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1F"/>
                </a:solidFill>
              </a:defRPr>
            </a:pPr>
            <a:r>
              <a:t>Real-Time Streaming EHR Ingestion and Validation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96B"/>
                </a:solidFill>
              </a:defRPr>
            </a:pPr>
            <a:r>
              <a:t>Hanuman Ashik Akshintala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11F"/>
                </a:solidFill>
              </a:defRPr>
            </a:pPr>
            <a:r>
              <a:t>EECS 247 Course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1625D"/>
                </a:solidFill>
              </a:defRPr>
            </a:pPr>
            <a:r>
              <a:t>Inspired by "Real-Time Data Ingestion Pipelines for Streaming EHR Systems"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1625D"/>
                </a:solidFill>
              </a:defRPr>
            </a:pPr>
            <a:r>
              <a:t>April 29,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4F8F6"/>
                </a:solidFill>
              </a:defRPr>
            </a:pPr>
            <a:r>
              <a:t>Local streaming pipeline using Kafka, Flink, Redis, Cassandra, and a React/Material UI dashboard</a:t>
            </a:r>
          </a:p>
          <a:p>
            <a:pPr>
              <a:spcAft>
                <a:spcPts val="800"/>
              </a:spcAft>
              <a:defRPr sz="1800">
                <a:solidFill>
                  <a:srgbClr val="F4F8F6"/>
                </a:solidFill>
              </a:defRPr>
            </a:pPr>
            <a:r>
              <a:t>Synthetic EHR events with validation, deduplication, quarantine, and performance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211F"/>
                </a:solidFill>
              </a:defRPr>
            </a:pPr>
            <a:r>
              <a:t>Modern healthcare systems increasingly receive EHR data as streams rather than offline batches.</a:t>
            </a:r>
          </a:p>
          <a:p>
            <a:pPr>
              <a:spcAft>
                <a:spcPts val="800"/>
              </a:spcAft>
              <a:defRPr sz="2000">
                <a:solidFill>
                  <a:srgbClr val="17211F"/>
                </a:solidFill>
              </a:defRPr>
            </a:pPr>
            <a:r>
              <a:t>Bad records can silently corrupt downstream analytics and decision-support systems if there is no validation path.</a:t>
            </a:r>
          </a:p>
          <a:p>
            <a:pPr>
              <a:spcAft>
                <a:spcPts val="800"/>
              </a:spcAft>
              <a:defRPr sz="2000">
                <a:solidFill>
                  <a:srgbClr val="17211F"/>
                </a:solidFill>
              </a:defRPr>
            </a:pPr>
            <a:r>
              <a:t>Streaming pipelines need duplicate detection, late-event handling, and clear quarantine routing.</a:t>
            </a:r>
          </a:p>
          <a:p>
            <a:pPr>
              <a:spcAft>
                <a:spcPts val="800"/>
              </a:spcAft>
              <a:defRPr sz="2000">
                <a:solidFill>
                  <a:srgbClr val="17211F"/>
                </a:solidFill>
              </a:defRPr>
            </a:pPr>
            <a:r>
              <a:t>The project goal was to implement a local version of a paper-inspired real-time EHR ingestion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55448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66420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experiment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993391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54480"/>
            <a:ext cx="73152" cy="128016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0" y="155448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66420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events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993391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30,000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554480"/>
            <a:ext cx="73152" cy="1280160"/>
          </a:xfrm>
          <a:prstGeom prst="rect">
            <a:avLst/>
          </a:prstGeom>
          <a:solidFill>
            <a:srgbClr val="AD7C00"/>
          </a:solidFill>
          <a:ln>
            <a:solidFill>
              <a:srgbClr val="AD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0" y="315468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accepted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5935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94.25%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154680"/>
            <a:ext cx="73152" cy="1280160"/>
          </a:xfrm>
          <a:prstGeom prst="rect">
            <a:avLst/>
          </a:prstGeom>
          <a:solidFill>
            <a:srgbClr val="435B57"/>
          </a:solidFill>
          <a:ln>
            <a:solidFill>
              <a:srgbClr val="435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315468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3264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quarantined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5935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5.75%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154680"/>
            <a:ext cx="73152" cy="128016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75488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1625D"/>
                </a:solidFill>
              </a:defRPr>
            </a:pPr>
            <a:r>
              <a:t>All runs use synthetic EHR events and execute locally without cloud services or real patient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645920" cy="914400"/>
          </a:xfrm>
          <a:prstGeom prst="round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Synthetic EHR</a:t>
            </a:r>
            <a:br/>
            <a:r>
              <a:t>Producer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920240"/>
            <a:ext cx="1645920" cy="914400"/>
          </a:xfrm>
          <a:prstGeom prst="round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Kafka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920240"/>
            <a:ext cx="1645920" cy="914400"/>
          </a:xfrm>
          <a:prstGeom prst="round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Flink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920240"/>
            <a:ext cx="1645920" cy="914400"/>
          </a:xfrm>
          <a:prstGeom prst="roundRect">
            <a:avLst/>
          </a:prstGeom>
          <a:solidFill>
            <a:srgbClr val="AD7C00"/>
          </a:solidFill>
          <a:ln>
            <a:solidFill>
              <a:srgbClr val="AD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Redis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920240"/>
            <a:ext cx="1645920" cy="914400"/>
          </a:xfrm>
          <a:prstGeom prst="round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Cassandra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1920240"/>
            <a:ext cx="1645920" cy="914400"/>
          </a:xfrm>
          <a:prstGeom prst="roundRect">
            <a:avLst/>
          </a:prstGeom>
          <a:solidFill>
            <a:srgbClr val="435B57"/>
          </a:solidFill>
          <a:ln>
            <a:solidFill>
              <a:srgbClr val="435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4F8F6"/>
                </a:solidFill>
              </a:defRPr>
            </a:pPr>
            <a:r>
              <a:t>Dashboard /</a:t>
            </a:r>
            <a:br/>
            <a:r>
              <a:t>Reports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377440"/>
            <a:ext cx="320040" cy="0"/>
          </a:xfrm>
          <a:prstGeom prst="line">
            <a:avLst/>
          </a:prstGeom>
          <a:ln w="31750">
            <a:solidFill>
              <a:srgbClr val="5162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2377440"/>
            <a:ext cx="320040" cy="0"/>
          </a:xfrm>
          <a:prstGeom prst="line">
            <a:avLst/>
          </a:prstGeom>
          <a:ln w="31750">
            <a:solidFill>
              <a:srgbClr val="5162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59" y="2377440"/>
            <a:ext cx="320041" cy="0"/>
          </a:xfrm>
          <a:prstGeom prst="line">
            <a:avLst/>
          </a:prstGeom>
          <a:ln w="31750">
            <a:solidFill>
              <a:srgbClr val="5162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75320" y="2377440"/>
            <a:ext cx="320040" cy="0"/>
          </a:xfrm>
          <a:prstGeom prst="line">
            <a:avLst/>
          </a:prstGeom>
          <a:ln w="31750">
            <a:solidFill>
              <a:srgbClr val="5162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41280" y="2377440"/>
            <a:ext cx="320040" cy="0"/>
          </a:xfrm>
          <a:prstGeom prst="line">
            <a:avLst/>
          </a:prstGeom>
          <a:ln w="31750">
            <a:solidFill>
              <a:srgbClr val="5162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749039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Kafka carries the raw synthetic EHR stream and separates valid, quarantine, and alert topics.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Flink performs validation, keyed-state duplicate detection, event-time processing, enrichment, and alert logic.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Redis stores low-latency patient metadata. Cassandra stores accepted records, quarantined records, and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Implemented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9163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96B"/>
                </a:solidFill>
              </a:defRPr>
            </a:pPr>
            <a:r>
              <a:t>Synthetic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84831"/>
            <a:ext cx="47914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211F"/>
                </a:solidFill>
              </a:defRPr>
            </a:pPr>
            <a:r>
              <a:t>Vitals, labs, medications, admissions; injects duplicates, late events, and invalid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69163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5B57"/>
                </a:solidFill>
              </a:defRPr>
            </a:pPr>
            <a:r>
              <a:t>Flink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1" y="2084831"/>
            <a:ext cx="47914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211F"/>
                </a:solidFill>
              </a:defRPr>
            </a:pPr>
            <a:r>
              <a:t>Schema checks, value-range checks, timestamp parsing, keyed duplicate detection, watermarks.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794760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D3F53"/>
                </a:solidFill>
              </a:defRPr>
            </a:pPr>
            <a:r>
              <a:t>Quarantine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87952"/>
            <a:ext cx="47914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211F"/>
                </a:solidFill>
              </a:defRPr>
            </a:pPr>
            <a:r>
              <a:t>Bad records are stored separately with explicit reasons instead of being silently dropped.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3794760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D7C00"/>
                </a:solidFill>
              </a:defRPr>
            </a:pPr>
            <a:r>
              <a:t>Serving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4187952"/>
            <a:ext cx="47914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211F"/>
                </a:solidFill>
              </a:defRPr>
            </a:pPr>
            <a:r>
              <a:t>Redis for enrichment metadata; Cassandra for valid events, quarantine, and alert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Validation and Stream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Required-field validation: event ID, patient ID, event type, event time, schema version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Clinical value validation: vital and lab out-of-range detection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Duplicate detection: keyed state over event IDs in Flink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Late and out-of-order handling: event-time watermarks with allowed lateness window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PHI-like field rejection: direct patient-name fields are quarantined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Possible-sepsis alert generation from the valid-event 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737360"/>
            <a:ext cx="1920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0" y="1847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top duplicate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21762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175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73152" cy="118872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0" y="1737360"/>
            <a:ext cx="1920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847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direct PHI rejects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1762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737360"/>
            <a:ext cx="73152" cy="118872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3246120"/>
            <a:ext cx="1920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missing patient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68503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83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246120"/>
            <a:ext cx="73152" cy="118872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3246120"/>
            <a:ext cx="1920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unknown event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68503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3246120"/>
            <a:ext cx="73152" cy="118872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8920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1625D"/>
                </a:solidFill>
              </a:defRPr>
            </a:pPr>
            <a:r>
              <a:t>Top quarantine reasons come from the 10,000-event final run with unlimited producer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Synthetic patients: 5,000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Allowed lateness window: 300 seconds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Invalid record injection: 4%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Duplicate injection: 2%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Out-of-order injection: 12%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Late-event injection: 3%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60020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70448" y="1709928"/>
          <a:ext cx="4800600" cy="298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1463040"/>
              </a:tblGrid>
              <a:tr h="5961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11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11F"/>
                          </a:solidFill>
                        </a:defRPr>
                      </a:pPr>
                      <a:r>
                        <a:t>Events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11F"/>
                          </a:solidFill>
                        </a:defRPr>
                      </a:pPr>
                      <a:r>
                        <a:t>Rate limit</a:t>
                      </a:r>
                    </a:p>
                  </a:txBody>
                  <a:tcPr>
                    <a:solidFill>
                      <a:srgbClr val="EDF5F2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events_5000_rate_1000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1,000/s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events_5000_rate_0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as fast as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events_10000_rate_1000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1,000/s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61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events_10000_rate_0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11F"/>
                          </a:solidFill>
                        </a:defRPr>
                      </a:pPr>
                      <a:r>
                        <a:t>as fast as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983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1625D"/>
                </a:solidFill>
              </a:defRPr>
            </a:pPr>
            <a:r>
              <a:t>The goal of the matrix was to compare controlled-rate ingestion against maximum-speed producer throughput and observe the effect on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Results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best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9339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33,783/s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137160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6642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lowest p95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9339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783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554480"/>
            <a:ext cx="73152" cy="1371600"/>
          </a:xfrm>
          <a:prstGeom prst="rect">
            <a:avLst/>
          </a:prstGeom>
          <a:solidFill>
            <a:srgbClr val="AD7C00"/>
          </a:solidFill>
          <a:ln>
            <a:solidFill>
              <a:srgbClr val="AD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accepted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94.25%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73152" cy="1371600"/>
          </a:xfrm>
          <a:prstGeom prst="rect">
            <a:avLst/>
          </a:prstGeom>
          <a:solidFill>
            <a:srgbClr val="435B57"/>
          </a:solidFill>
          <a:ln>
            <a:solidFill>
              <a:srgbClr val="435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89720" y="155448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64207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93391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554480"/>
            <a:ext cx="73152" cy="137160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Unlimited producer rate increased throughput to 33,783 events/sec but also increased p95 latency.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Controlled-rate ingestion at 1,000 events/sec achieved the lowest p95 latency of 783 ms.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The latest 10,000-event run accepted 9,425 records and quarantined 575.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Latest-run average latency was 5,459 ms and p95 latency was 9,826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Experiment Matrix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1625D"/>
                </a:solidFill>
              </a:defRPr>
            </a:pPr>
            <a:r>
              <a:t>Final table aggregating the four workload configurations.</a:t>
            </a:r>
          </a:p>
        </p:txBody>
      </p:sp>
      <p:pic>
        <p:nvPicPr>
          <p:cNvPr id="4" name="Picture 3" descr="experimen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React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1625D"/>
                </a:solidFill>
              </a:defRPr>
            </a:pPr>
            <a:r>
              <a:t>Live React + Material UI dashboard served at localhost:5173.</a:t>
            </a:r>
          </a:p>
        </p:txBody>
      </p:sp>
      <p:pic>
        <p:nvPicPr>
          <p:cNvPr id="4" name="Picture 3" descr="re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7211F"/>
                </a:solidFill>
              </a:defRPr>
            </a:pPr>
            <a:r>
              <a:t>The live dashboard shows 9,425 valid records, 575 quarantined records, and 1 alert(s).</a:t>
            </a:r>
          </a:p>
          <a:p>
            <a:pPr>
              <a:spcAft>
                <a:spcPts val="800"/>
              </a:spcAft>
              <a:defRPr sz="1500">
                <a:solidFill>
                  <a:srgbClr val="17211F"/>
                </a:solidFill>
              </a:defRPr>
            </a:pPr>
            <a:r>
              <a:t>Latest-run p95 latency is 9,826 ms, and throughput is derived directly from the generated pipeline summary.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Runtime and Generated Output</a:t>
            </a:r>
          </a:p>
        </p:txBody>
      </p:sp>
      <p:pic>
        <p:nvPicPr>
          <p:cNvPr id="3" name="Picture 2" descr="flin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394960" cy="3429000"/>
          </a:xfrm>
          <a:prstGeom prst="rect">
            <a:avLst/>
          </a:prstGeom>
        </p:spPr>
      </p:pic>
      <p:pic>
        <p:nvPicPr>
          <p:cNvPr id="4" name="Picture 3" descr="distributed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4924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92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1F"/>
                </a:solidFill>
              </a:defRPr>
            </a:pPr>
            <a:r>
              <a:t>Flink dashboard confirming the streaming job is 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1F"/>
                </a:solidFill>
              </a:defRPr>
            </a:pPr>
            <a:r>
              <a:t>Generated report summarizing final output from Cassandra summaries.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211F"/>
                </a:solidFill>
              </a:defRPr>
            </a:pPr>
            <a:r>
              <a:t>The Flink UI shows the live streaming job. The report view is a stable output for final analysis and presentation backup.</a:t>
            </a:r>
          </a:p>
          <a:p>
            <a:pPr>
              <a:spcAft>
                <a:spcPts val="800"/>
              </a:spcAft>
              <a:defRPr sz="1400">
                <a:solidFill>
                  <a:srgbClr val="17211F"/>
                </a:solidFill>
              </a:defRPr>
            </a:pPr>
            <a:r>
              <a:t>Quarantined records are expected because the generator intentionally injects duplicates, malformed timestamps, PHI-like fields, and range violations.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Discussion, Limitations,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Why Redis: fast metadata enrichment during stream processing.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Why Cassandra: scalable write-heavy serving store for valid events, quarantine, and alerts.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Why latency rises at unlimited rate: the producer can outrun downstream storage and processing.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Limitations: synthetic data, single-node local deployment, and simple alert logic.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Future work: Synthea/FHIR input, restart/failure experiments, and more advanced alert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737360"/>
            <a:ext cx="2011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80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5,000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737360"/>
            <a:ext cx="73152" cy="128016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1737360"/>
            <a:ext cx="2011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847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lateness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176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300s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737360"/>
            <a:ext cx="73152" cy="1280160"/>
          </a:xfrm>
          <a:prstGeom prst="rect">
            <a:avLst/>
          </a:prstGeom>
          <a:solidFill>
            <a:srgbClr val="AD7C00"/>
          </a:solidFill>
          <a:ln>
            <a:solidFill>
              <a:srgbClr val="AD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3383280"/>
            <a:ext cx="2011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invalid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82219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383280"/>
            <a:ext cx="73152" cy="1280160"/>
          </a:xfrm>
          <a:prstGeom prst="rect">
            <a:avLst/>
          </a:prstGeom>
          <a:solidFill>
            <a:srgbClr val="BD3F53"/>
          </a:solidFill>
          <a:ln>
            <a:solidFill>
              <a:srgbClr val="BD3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3383280"/>
            <a:ext cx="2011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1625D"/>
                </a:solidFill>
              </a:defRPr>
            </a:pPr>
            <a:r>
              <a:t>out-of-order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82219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211F"/>
                </a:solidFill>
              </a:defRPr>
            </a:pPr>
            <a:r>
              <a:t>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3383280"/>
            <a:ext cx="73152" cy="1280160"/>
          </a:xfrm>
          <a:prstGeom prst="rect">
            <a:avLst/>
          </a:prstGeom>
          <a:solidFill>
            <a:srgbClr val="435B57"/>
          </a:solidFill>
          <a:ln>
            <a:solidFill>
              <a:srgbClr val="435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11F"/>
                </a:solidFill>
              </a:defRPr>
            </a:pPr>
            <a:r>
              <a:t>Presentation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Start with the architecture slide and explain the Kafka -&gt; Flink -&gt; Redis/Cassandra data path.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Show the experiment summary table to compare 5,000 vs 10,000 events and rate-limited vs unlimited ingestion.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Open the generated output report to explain valid records, quarantine reasons, alerts, and event-type counts.</a:t>
            </a:r>
          </a:p>
          <a:p>
            <a:pPr>
              <a:spcAft>
                <a:spcPts val="800"/>
              </a:spcAft>
              <a:defRPr sz="1800">
                <a:solidFill>
                  <a:srgbClr val="17211F"/>
                </a:solidFill>
              </a:defRPr>
            </a:pPr>
            <a:r>
              <a:t>If Docker Desktop is available, open the live dashboard at http://localhost:5173 and Flink at http://localhost:8081.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26280"/>
            <a:ext cx="10058400" cy="1188720"/>
          </a:xfrm>
          <a:prstGeom prst="roundRect">
            <a:avLst/>
          </a:prstGeom>
          <a:solidFill>
            <a:srgbClr val="17211F"/>
          </a:solidFill>
          <a:ln>
            <a:solidFill>
              <a:srgbClr val="172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636008"/>
            <a:ext cx="97292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4F8F6"/>
                </a:solidFill>
                <a:latin typeface="Menlo"/>
              </a:defRPr>
            </a:pPr>
            <a:r>
              <a:t>cd "/Users/hanumanashikakshintala/Documents/New project/ehr_stream_pipeline"</a:t>
            </a:r>
          </a:p>
          <a:p>
            <a:pPr>
              <a:defRPr sz="1500">
                <a:solidFill>
                  <a:srgbClr val="F4F8F6"/>
                </a:solidFill>
                <a:latin typeface="Menlo"/>
              </a:defRPr>
            </a:pPr>
            <a:r>
              <a:t>./scripts/start_presentation_demo.sh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1F"/>
                </a:solidFill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7211F"/>
                </a:solidFill>
              </a:defRPr>
            </a:pPr>
            <a:r>
              <a:t>The project demonstrates that a paper-inspired streaming EHR ingestion pipeline can be implemented locally with real Kafka, Flink, Redis, and Cassandra components while producing measurable throughput, latency, and quarantine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796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